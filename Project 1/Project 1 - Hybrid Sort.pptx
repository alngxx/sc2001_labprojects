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ixellet TH" charset="1" panose="02000503000000000000"/>
      <p:regular r:id="rId23"/>
    </p:embeddedFont>
    <p:embeddedFont>
      <p:font typeface="Bitter Bold" charset="1" panose="02000000000000000000"/>
      <p:regular r:id="rId24"/>
    </p:embeddedFont>
    <p:embeddedFont>
      <p:font typeface="Bitter" charset="1" panose="02000000000000000000"/>
      <p:regular r:id="rId25"/>
    </p:embeddedFont>
    <p:embeddedFont>
      <p:font typeface="Montserrat Bold" charset="1" panose="00000800000000000000"/>
      <p:regular r:id="rId26"/>
    </p:embeddedFont>
    <p:embeddedFont>
      <p:font typeface="Canva Sans Bold" charset="1" panose="020B0803030501040103"/>
      <p:regular r:id="rId27"/>
    </p:embeddedFont>
    <p:embeddedFont>
      <p:font typeface="Marykate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Now I’ll talk about part (c)(iii), which is about finding the optimal threshold S for the hybrid mergesort.</a:t>
            </a:r>
          </a:p>
          <a:p>
            <a:r>
              <a:rPr lang="en-US"/>
              <a:t/>
            </a:r>
          </a:p>
          <a:p>
            <a:r>
              <a:rPr lang="en-US"/>
              <a:t>The idea is that mergesort is efficient for large inputs, but when the subarrays get very small, insertion sort can actually work faster. So, we introduce a cutoff value S: if the subarray size is smaller than S, we switch to insertion sort.</a:t>
            </a:r>
          </a:p>
          <a:p>
            <a:r>
              <a:rPr lang="en-US"/>
              <a:t/>
            </a:r>
          </a:p>
          <a:p>
            <a:r>
              <a:rPr lang="en-US"/>
              <a:t>To find the best S, we ran experiments on datasets of different sizes. We measured the number of key comparisons as we varied S.</a:t>
            </a:r>
          </a:p>
          <a:p>
            <a:r>
              <a:rPr lang="en-US"/>
              <a:t/>
            </a:r>
          </a:p>
          <a:p>
            <a:r>
              <a:rPr lang="en-US"/>
              <a:t>From the graph, we observed that when S is too small, mergesort dominates and performance is worse. When S is too large, insertion sort takes over too much and again becomes inefficient. But there is a sweet spot in the middle — for our data, this was around S = 20. That means the hybrid algorithm is most efficient when subarrays of size 20 or smaller are sorted using insertion sort.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7937" y="8346240"/>
            <a:ext cx="2861363" cy="912060"/>
          </a:xfrm>
          <a:custGeom>
            <a:avLst/>
            <a:gdLst/>
            <a:ahLst/>
            <a:cxnLst/>
            <a:rect r="r" b="b" t="t" l="l"/>
            <a:pathLst>
              <a:path h="912060" w="2861363">
                <a:moveTo>
                  <a:pt x="0" y="0"/>
                </a:moveTo>
                <a:lnTo>
                  <a:pt x="2861363" y="0"/>
                </a:lnTo>
                <a:lnTo>
                  <a:pt x="2861363" y="912060"/>
                </a:lnTo>
                <a:lnTo>
                  <a:pt x="0" y="91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70432" y="197861"/>
            <a:ext cx="10868907" cy="10080912"/>
          </a:xfrm>
          <a:custGeom>
            <a:avLst/>
            <a:gdLst/>
            <a:ahLst/>
            <a:cxnLst/>
            <a:rect r="r" b="b" t="t" l="l"/>
            <a:pathLst>
              <a:path h="10080912" w="10868907">
                <a:moveTo>
                  <a:pt x="0" y="0"/>
                </a:moveTo>
                <a:lnTo>
                  <a:pt x="10868907" y="0"/>
                </a:lnTo>
                <a:lnTo>
                  <a:pt x="10868907" y="10080912"/>
                </a:lnTo>
                <a:lnTo>
                  <a:pt x="0" y="10080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0" y="7048066"/>
            <a:ext cx="3238934" cy="3238934"/>
          </a:xfrm>
          <a:custGeom>
            <a:avLst/>
            <a:gdLst/>
            <a:ahLst/>
            <a:cxnLst/>
            <a:rect r="r" b="b" t="t" l="l"/>
            <a:pathLst>
              <a:path h="3238934" w="3238934">
                <a:moveTo>
                  <a:pt x="0" y="0"/>
                </a:moveTo>
                <a:lnTo>
                  <a:pt x="3238934" y="0"/>
                </a:lnTo>
                <a:lnTo>
                  <a:pt x="3238934" y="3238934"/>
                </a:lnTo>
                <a:lnTo>
                  <a:pt x="0" y="3238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45777">
            <a:off x="-573500" y="-1168969"/>
            <a:ext cx="3204400" cy="4114800"/>
          </a:xfrm>
          <a:custGeom>
            <a:avLst/>
            <a:gdLst/>
            <a:ahLst/>
            <a:cxnLst/>
            <a:rect r="r" b="b" t="t" l="l"/>
            <a:pathLst>
              <a:path h="4114800" w="3204400">
                <a:moveTo>
                  <a:pt x="0" y="0"/>
                </a:moveTo>
                <a:lnTo>
                  <a:pt x="3204400" y="0"/>
                </a:lnTo>
                <a:lnTo>
                  <a:pt x="3204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3783350" y="1604320"/>
            <a:ext cx="5770085" cy="2957169"/>
          </a:xfrm>
          <a:custGeom>
            <a:avLst/>
            <a:gdLst/>
            <a:ahLst/>
            <a:cxnLst/>
            <a:rect r="r" b="b" t="t" l="l"/>
            <a:pathLst>
              <a:path h="2957169" w="5770085">
                <a:moveTo>
                  <a:pt x="0" y="0"/>
                </a:moveTo>
                <a:lnTo>
                  <a:pt x="5770085" y="0"/>
                </a:lnTo>
                <a:lnTo>
                  <a:pt x="5770085" y="2957168"/>
                </a:lnTo>
                <a:lnTo>
                  <a:pt x="0" y="2957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38449" y="771525"/>
            <a:ext cx="5732872" cy="248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SC2001</a:t>
            </a:r>
          </a:p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Project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48902" y="3546475"/>
            <a:ext cx="6111966" cy="314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TEAM 7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Nguyen An Loc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Ooi Jia xi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Panicker Shobith Shreekumar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9662" y="7392924"/>
            <a:ext cx="7315200" cy="3730752"/>
          </a:xfrm>
          <a:custGeom>
            <a:avLst/>
            <a:gdLst/>
            <a:ahLst/>
            <a:cxnLst/>
            <a:rect r="r" b="b" t="t" l="l"/>
            <a:pathLst>
              <a:path h="3730752" w="7315200">
                <a:moveTo>
                  <a:pt x="0" y="0"/>
                </a:moveTo>
                <a:lnTo>
                  <a:pt x="7315200" y="0"/>
                </a:lnTo>
                <a:lnTo>
                  <a:pt x="7315200" y="3730752"/>
                </a:lnTo>
                <a:lnTo>
                  <a:pt x="0" y="373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4602" y="342900"/>
            <a:ext cx="14318796" cy="204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AD00A"/>
                </a:solidFill>
                <a:latin typeface="Pixellet TH"/>
                <a:ea typeface="Pixellet TH"/>
                <a:cs typeface="Pixellet TH"/>
                <a:sym typeface="Pixellet TH"/>
              </a:rPr>
              <a:t>Project 1: Integration of Mergesort and Insertion Sort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1329" y="3097122"/>
            <a:ext cx="7322554" cy="2991284"/>
            <a:chOff x="0" y="0"/>
            <a:chExt cx="1928574" cy="787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8574" cy="787828"/>
            </a:xfrm>
            <a:custGeom>
              <a:avLst/>
              <a:gdLst/>
              <a:ahLst/>
              <a:cxnLst/>
              <a:rect r="r" b="b" t="t" l="l"/>
              <a:pathLst>
                <a:path h="787828" w="1928574">
                  <a:moveTo>
                    <a:pt x="0" y="0"/>
                  </a:moveTo>
                  <a:lnTo>
                    <a:pt x="1928574" y="0"/>
                  </a:lnTo>
                  <a:lnTo>
                    <a:pt x="1928574" y="787828"/>
                  </a:lnTo>
                  <a:lnTo>
                    <a:pt x="0" y="787828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28574" cy="825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26152" y="3011542"/>
            <a:ext cx="7288419" cy="2990661"/>
            <a:chOff x="0" y="0"/>
            <a:chExt cx="1919584" cy="7876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9584" cy="787664"/>
            </a:xfrm>
            <a:custGeom>
              <a:avLst/>
              <a:gdLst/>
              <a:ahLst/>
              <a:cxnLst/>
              <a:rect r="r" b="b" t="t" l="l"/>
              <a:pathLst>
                <a:path h="787664" w="1919584">
                  <a:moveTo>
                    <a:pt x="0" y="0"/>
                  </a:moveTo>
                  <a:lnTo>
                    <a:pt x="1919584" y="0"/>
                  </a:lnTo>
                  <a:lnTo>
                    <a:pt x="1919584" y="787664"/>
                  </a:lnTo>
                  <a:lnTo>
                    <a:pt x="0" y="787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919584" cy="854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 b="true">
                  <a:solidFill>
                    <a:srgbClr val="000000"/>
                  </a:solidFill>
                  <a:latin typeface="Bitter Bold"/>
                  <a:ea typeface="Bitter Bold"/>
                  <a:cs typeface="Bitter Bold"/>
                  <a:sym typeface="Bitter Bold"/>
                </a:rPr>
                <a:t>1. Algorithm implementation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Bitter"/>
                  <a:ea typeface="Bitter"/>
                  <a:cs typeface="Bitter"/>
                  <a:sym typeface="Bitter"/>
                </a:rPr>
                <a:t>Implement and analyze the hybrid algorithm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73428" y="3097122"/>
            <a:ext cx="7322554" cy="2991284"/>
            <a:chOff x="0" y="0"/>
            <a:chExt cx="1928574" cy="7878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8574" cy="787828"/>
            </a:xfrm>
            <a:custGeom>
              <a:avLst/>
              <a:gdLst/>
              <a:ahLst/>
              <a:cxnLst/>
              <a:rect r="r" b="b" t="t" l="l"/>
              <a:pathLst>
                <a:path h="787828" w="1928574">
                  <a:moveTo>
                    <a:pt x="0" y="0"/>
                  </a:moveTo>
                  <a:lnTo>
                    <a:pt x="1928574" y="0"/>
                  </a:lnTo>
                  <a:lnTo>
                    <a:pt x="1928574" y="787828"/>
                  </a:lnTo>
                  <a:lnTo>
                    <a:pt x="0" y="787828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28574" cy="825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8252" y="3011542"/>
            <a:ext cx="7288419" cy="2990661"/>
            <a:chOff x="0" y="0"/>
            <a:chExt cx="1919584" cy="787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9584" cy="787664"/>
            </a:xfrm>
            <a:custGeom>
              <a:avLst/>
              <a:gdLst/>
              <a:ahLst/>
              <a:cxnLst/>
              <a:rect r="r" b="b" t="t" l="l"/>
              <a:pathLst>
                <a:path h="787664" w="1919584">
                  <a:moveTo>
                    <a:pt x="0" y="0"/>
                  </a:moveTo>
                  <a:lnTo>
                    <a:pt x="1919584" y="0"/>
                  </a:lnTo>
                  <a:lnTo>
                    <a:pt x="1919584" y="787664"/>
                  </a:lnTo>
                  <a:lnTo>
                    <a:pt x="0" y="787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9584" cy="82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1329" y="6495461"/>
            <a:ext cx="7322554" cy="2994160"/>
            <a:chOff x="0" y="0"/>
            <a:chExt cx="1928574" cy="7885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8574" cy="788585"/>
            </a:xfrm>
            <a:custGeom>
              <a:avLst/>
              <a:gdLst/>
              <a:ahLst/>
              <a:cxnLst/>
              <a:rect r="r" b="b" t="t" l="l"/>
              <a:pathLst>
                <a:path h="788585" w="1928574">
                  <a:moveTo>
                    <a:pt x="0" y="0"/>
                  </a:moveTo>
                  <a:lnTo>
                    <a:pt x="1928574" y="0"/>
                  </a:lnTo>
                  <a:lnTo>
                    <a:pt x="1928574" y="788585"/>
                  </a:lnTo>
                  <a:lnTo>
                    <a:pt x="0" y="788585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8574" cy="82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6152" y="6409799"/>
            <a:ext cx="7288419" cy="2993537"/>
            <a:chOff x="0" y="0"/>
            <a:chExt cx="1919584" cy="7884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9584" cy="788421"/>
            </a:xfrm>
            <a:custGeom>
              <a:avLst/>
              <a:gdLst/>
              <a:ahLst/>
              <a:cxnLst/>
              <a:rect r="r" b="b" t="t" l="l"/>
              <a:pathLst>
                <a:path h="788421" w="1919584">
                  <a:moveTo>
                    <a:pt x="0" y="0"/>
                  </a:moveTo>
                  <a:lnTo>
                    <a:pt x="1919584" y="0"/>
                  </a:lnTo>
                  <a:lnTo>
                    <a:pt x="1919584" y="788421"/>
                  </a:lnTo>
                  <a:lnTo>
                    <a:pt x="0" y="788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19584" cy="826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73428" y="6495461"/>
            <a:ext cx="7322554" cy="2994160"/>
            <a:chOff x="0" y="0"/>
            <a:chExt cx="1928574" cy="7885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28574" cy="788585"/>
            </a:xfrm>
            <a:custGeom>
              <a:avLst/>
              <a:gdLst/>
              <a:ahLst/>
              <a:cxnLst/>
              <a:rect r="r" b="b" t="t" l="l"/>
              <a:pathLst>
                <a:path h="788585" w="1928574">
                  <a:moveTo>
                    <a:pt x="0" y="0"/>
                  </a:moveTo>
                  <a:lnTo>
                    <a:pt x="1928574" y="0"/>
                  </a:lnTo>
                  <a:lnTo>
                    <a:pt x="1928574" y="788585"/>
                  </a:lnTo>
                  <a:lnTo>
                    <a:pt x="0" y="788585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28574" cy="82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8252" y="6335187"/>
            <a:ext cx="7288419" cy="2993537"/>
            <a:chOff x="0" y="0"/>
            <a:chExt cx="1919584" cy="7884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19584" cy="788421"/>
            </a:xfrm>
            <a:custGeom>
              <a:avLst/>
              <a:gdLst/>
              <a:ahLst/>
              <a:cxnLst/>
              <a:rect r="r" b="b" t="t" l="l"/>
              <a:pathLst>
                <a:path h="788421" w="1919584">
                  <a:moveTo>
                    <a:pt x="0" y="0"/>
                  </a:moveTo>
                  <a:lnTo>
                    <a:pt x="1919584" y="0"/>
                  </a:lnTo>
                  <a:lnTo>
                    <a:pt x="1919584" y="788421"/>
                  </a:lnTo>
                  <a:lnTo>
                    <a:pt x="0" y="788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19584" cy="826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61224" y="3312557"/>
            <a:ext cx="6146962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2. Generate input data</a:t>
            </a:r>
            <a:r>
              <a:rPr lang="en-US" sz="35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Generate arrays of increasing sizes, in a range from 1,000 to 10 million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2384" y="7239024"/>
            <a:ext cx="6860444" cy="125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3. Analyze Time complexity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Determine optimal value of 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00762" y="6846903"/>
            <a:ext cx="6467887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4.Compare with Mergesort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88252" y="7527132"/>
            <a:ext cx="728841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Compare performance with the original Mergesort in lecture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548816"/>
            <a:ext cx="18802350" cy="3068926"/>
            <a:chOff x="0" y="0"/>
            <a:chExt cx="4952059" cy="8082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2059" cy="808277"/>
            </a:xfrm>
            <a:custGeom>
              <a:avLst/>
              <a:gdLst/>
              <a:ahLst/>
              <a:cxnLst/>
              <a:rect r="r" b="b" t="t" l="l"/>
              <a:pathLst>
                <a:path h="808277" w="4952059">
                  <a:moveTo>
                    <a:pt x="0" y="0"/>
                  </a:moveTo>
                  <a:lnTo>
                    <a:pt x="4952059" y="0"/>
                  </a:lnTo>
                  <a:lnTo>
                    <a:pt x="4952059" y="808277"/>
                  </a:lnTo>
                  <a:lnTo>
                    <a:pt x="0" y="808277"/>
                  </a:lnTo>
                  <a:close/>
                </a:path>
              </a:pathLst>
            </a:custGeom>
            <a:solidFill>
              <a:srgbClr val="FAD00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52059" cy="84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94591" y="3484938"/>
            <a:ext cx="6382693" cy="769839"/>
            <a:chOff x="0" y="0"/>
            <a:chExt cx="8510257" cy="1026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5129" cy="1026452"/>
            </a:xfrm>
            <a:custGeom>
              <a:avLst/>
              <a:gdLst/>
              <a:ahLst/>
              <a:cxnLst/>
              <a:rect r="r" b="b" t="t" l="l"/>
              <a:pathLst>
                <a:path h="1026452" w="4255129">
                  <a:moveTo>
                    <a:pt x="0" y="0"/>
                  </a:moveTo>
                  <a:lnTo>
                    <a:pt x="4255129" y="0"/>
                  </a:lnTo>
                  <a:lnTo>
                    <a:pt x="4255129" y="1026452"/>
                  </a:lnTo>
                  <a:lnTo>
                    <a:pt x="0" y="1026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264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4255129" y="0"/>
              <a:ext cx="4255129" cy="1026452"/>
            </a:xfrm>
            <a:custGeom>
              <a:avLst/>
              <a:gdLst/>
              <a:ahLst/>
              <a:cxnLst/>
              <a:rect r="r" b="b" t="t" l="l"/>
              <a:pathLst>
                <a:path h="1026452" w="4255129">
                  <a:moveTo>
                    <a:pt x="4255128" y="0"/>
                  </a:moveTo>
                  <a:lnTo>
                    <a:pt x="0" y="0"/>
                  </a:lnTo>
                  <a:lnTo>
                    <a:pt x="0" y="1026452"/>
                  </a:lnTo>
                  <a:lnTo>
                    <a:pt x="4255128" y="1026452"/>
                  </a:lnTo>
                  <a:lnTo>
                    <a:pt x="4255128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264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4511" y="4491470"/>
            <a:ext cx="7560823" cy="5330945"/>
            <a:chOff x="0" y="0"/>
            <a:chExt cx="1991328" cy="14040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1328" cy="1404035"/>
            </a:xfrm>
            <a:custGeom>
              <a:avLst/>
              <a:gdLst/>
              <a:ahLst/>
              <a:cxnLst/>
              <a:rect r="r" b="b" t="t" l="l"/>
              <a:pathLst>
                <a:path h="1404035" w="1991328">
                  <a:moveTo>
                    <a:pt x="52222" y="0"/>
                  </a:moveTo>
                  <a:lnTo>
                    <a:pt x="1939106" y="0"/>
                  </a:lnTo>
                  <a:cubicBezTo>
                    <a:pt x="1967948" y="0"/>
                    <a:pt x="1991328" y="23380"/>
                    <a:pt x="1991328" y="52222"/>
                  </a:cubicBezTo>
                  <a:lnTo>
                    <a:pt x="1991328" y="1351813"/>
                  </a:lnTo>
                  <a:cubicBezTo>
                    <a:pt x="1991328" y="1380654"/>
                    <a:pt x="1967948" y="1404035"/>
                    <a:pt x="1939106" y="1404035"/>
                  </a:cubicBezTo>
                  <a:lnTo>
                    <a:pt x="52222" y="1404035"/>
                  </a:lnTo>
                  <a:cubicBezTo>
                    <a:pt x="23380" y="1404035"/>
                    <a:pt x="0" y="1380654"/>
                    <a:pt x="0" y="1351813"/>
                  </a:cubicBezTo>
                  <a:lnTo>
                    <a:pt x="0" y="52222"/>
                  </a:lnTo>
                  <a:cubicBezTo>
                    <a:pt x="0" y="23380"/>
                    <a:pt x="23380" y="0"/>
                    <a:pt x="52222" y="0"/>
                  </a:cubicBezTo>
                  <a:close/>
                </a:path>
              </a:pathLst>
            </a:custGeom>
            <a:solidFill>
              <a:srgbClr val="FAD00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1328" cy="144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872" y="762219"/>
            <a:ext cx="9770131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7699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Motivation for Hybrid Sort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897" y="4649280"/>
            <a:ext cx="7057948" cy="596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MergeSort efficient overall but has recursion overhead on small subarrays</a:t>
            </a:r>
          </a:p>
          <a:p>
            <a:pPr algn="just">
              <a:lnSpc>
                <a:spcPts val="4340"/>
              </a:lnSpc>
            </a:pP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Insertion Sort is simple and efficient for small subarrays</a:t>
            </a:r>
          </a:p>
          <a:p>
            <a:pPr algn="just">
              <a:lnSpc>
                <a:spcPts val="4340"/>
              </a:lnSpc>
            </a:pP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Hybrid approach: combine both for better performance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340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150515" y="4510517"/>
            <a:ext cx="7560823" cy="5330945"/>
            <a:chOff x="0" y="0"/>
            <a:chExt cx="1991328" cy="14040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1328" cy="1404035"/>
            </a:xfrm>
            <a:custGeom>
              <a:avLst/>
              <a:gdLst/>
              <a:ahLst/>
              <a:cxnLst/>
              <a:rect r="r" b="b" t="t" l="l"/>
              <a:pathLst>
                <a:path h="1404035" w="1991328">
                  <a:moveTo>
                    <a:pt x="52222" y="0"/>
                  </a:moveTo>
                  <a:lnTo>
                    <a:pt x="1939106" y="0"/>
                  </a:lnTo>
                  <a:cubicBezTo>
                    <a:pt x="1967948" y="0"/>
                    <a:pt x="1991328" y="23380"/>
                    <a:pt x="1991328" y="52222"/>
                  </a:cubicBezTo>
                  <a:lnTo>
                    <a:pt x="1991328" y="1351813"/>
                  </a:lnTo>
                  <a:cubicBezTo>
                    <a:pt x="1991328" y="1380654"/>
                    <a:pt x="1967948" y="1404035"/>
                    <a:pt x="1939106" y="1404035"/>
                  </a:cubicBezTo>
                  <a:lnTo>
                    <a:pt x="52222" y="1404035"/>
                  </a:lnTo>
                  <a:cubicBezTo>
                    <a:pt x="23380" y="1404035"/>
                    <a:pt x="0" y="1380654"/>
                    <a:pt x="0" y="1351813"/>
                  </a:cubicBezTo>
                  <a:lnTo>
                    <a:pt x="0" y="52222"/>
                  </a:lnTo>
                  <a:cubicBezTo>
                    <a:pt x="0" y="23380"/>
                    <a:pt x="23380" y="0"/>
                    <a:pt x="52222" y="0"/>
                  </a:cubicBezTo>
                  <a:close/>
                </a:path>
              </a:pathLst>
            </a:custGeom>
            <a:solidFill>
              <a:srgbClr val="FAD00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1328" cy="144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76079" y="4957938"/>
            <a:ext cx="7057948" cy="433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Use MergeSort for large subarrays</a:t>
            </a:r>
          </a:p>
          <a:p>
            <a:pPr algn="l">
              <a:lnSpc>
                <a:spcPts val="4340"/>
              </a:lnSpc>
            </a:pP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Switch to Insertion Sort when subarray size ≤ threshold S</a:t>
            </a:r>
          </a:p>
          <a:p>
            <a:pPr algn="l">
              <a:lnSpc>
                <a:spcPts val="4340"/>
              </a:lnSpc>
            </a:pP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Balances divide-and-conquer with localized efficiency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246071" y="7195039"/>
            <a:ext cx="167370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C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6054" y="3152111"/>
            <a:ext cx="2330569" cy="2366060"/>
          </a:xfrm>
          <a:custGeom>
            <a:avLst/>
            <a:gdLst/>
            <a:ahLst/>
            <a:cxnLst/>
            <a:rect r="r" b="b" t="t" l="l"/>
            <a:pathLst>
              <a:path h="2366060" w="2330569">
                <a:moveTo>
                  <a:pt x="0" y="0"/>
                </a:moveTo>
                <a:lnTo>
                  <a:pt x="2330569" y="0"/>
                </a:lnTo>
                <a:lnTo>
                  <a:pt x="2330569" y="2366059"/>
                </a:lnTo>
                <a:lnTo>
                  <a:pt x="0" y="2366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14504" y="1320578"/>
            <a:ext cx="10844796" cy="8716505"/>
          </a:xfrm>
          <a:custGeom>
            <a:avLst/>
            <a:gdLst/>
            <a:ahLst/>
            <a:cxnLst/>
            <a:rect r="r" b="b" t="t" l="l"/>
            <a:pathLst>
              <a:path h="8716505" w="10844796">
                <a:moveTo>
                  <a:pt x="0" y="0"/>
                </a:moveTo>
                <a:lnTo>
                  <a:pt x="10844796" y="0"/>
                </a:lnTo>
                <a:lnTo>
                  <a:pt x="10844796" y="8716505"/>
                </a:lnTo>
                <a:lnTo>
                  <a:pt x="0" y="8716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9060" y="150495"/>
            <a:ext cx="1617024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(a): Algorithm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0189" y="2871588"/>
            <a:ext cx="1561261" cy="216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2"/>
              </a:lnSpc>
              <a:spcBef>
                <a:spcPct val="0"/>
              </a:spcBef>
            </a:pPr>
            <a:r>
              <a:rPr lang="en-US" sz="11423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32056" y="6092061"/>
            <a:ext cx="5047778" cy="1042828"/>
            <a:chOff x="0" y="0"/>
            <a:chExt cx="1329456" cy="2746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9456" cy="274654"/>
            </a:xfrm>
            <a:custGeom>
              <a:avLst/>
              <a:gdLst/>
              <a:ahLst/>
              <a:cxnLst/>
              <a:rect r="r" b="b" t="t" l="l"/>
              <a:pathLst>
                <a:path h="274654" w="1329456">
                  <a:moveTo>
                    <a:pt x="0" y="0"/>
                  </a:moveTo>
                  <a:lnTo>
                    <a:pt x="1329456" y="0"/>
                  </a:lnTo>
                  <a:lnTo>
                    <a:pt x="1329456" y="274654"/>
                  </a:lnTo>
                  <a:lnTo>
                    <a:pt x="0" y="274654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9456" cy="312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7739" y="6196408"/>
            <a:ext cx="5587200" cy="75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5"/>
              </a:lnSpc>
              <a:spcBef>
                <a:spcPct val="0"/>
              </a:spcBef>
            </a:pPr>
            <a:r>
              <a:rPr lang="en-US" b="true" sz="413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Insertion Sort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C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134" y="1140908"/>
            <a:ext cx="10388279" cy="9003857"/>
          </a:xfrm>
          <a:custGeom>
            <a:avLst/>
            <a:gdLst/>
            <a:ahLst/>
            <a:cxnLst/>
            <a:rect r="r" b="b" t="t" l="l"/>
            <a:pathLst>
              <a:path h="9003857" w="10388279">
                <a:moveTo>
                  <a:pt x="0" y="0"/>
                </a:moveTo>
                <a:lnTo>
                  <a:pt x="10388279" y="0"/>
                </a:lnTo>
                <a:lnTo>
                  <a:pt x="10388279" y="9003857"/>
                </a:lnTo>
                <a:lnTo>
                  <a:pt x="0" y="9003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2" t="0" r="-182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1013" y="1638604"/>
            <a:ext cx="2330569" cy="2366060"/>
          </a:xfrm>
          <a:custGeom>
            <a:avLst/>
            <a:gdLst/>
            <a:ahLst/>
            <a:cxnLst/>
            <a:rect r="r" b="b" t="t" l="l"/>
            <a:pathLst>
              <a:path h="2366060" w="2330569">
                <a:moveTo>
                  <a:pt x="0" y="0"/>
                </a:moveTo>
                <a:lnTo>
                  <a:pt x="2330569" y="0"/>
                </a:lnTo>
                <a:lnTo>
                  <a:pt x="2330569" y="2366059"/>
                </a:lnTo>
                <a:lnTo>
                  <a:pt x="0" y="23660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74635" y="4548622"/>
            <a:ext cx="5472677" cy="1726357"/>
            <a:chOff x="0" y="0"/>
            <a:chExt cx="1441363" cy="454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1363" cy="454678"/>
            </a:xfrm>
            <a:custGeom>
              <a:avLst/>
              <a:gdLst/>
              <a:ahLst/>
              <a:cxnLst/>
              <a:rect r="r" b="b" t="t" l="l"/>
              <a:pathLst>
                <a:path h="454678" w="1441363">
                  <a:moveTo>
                    <a:pt x="0" y="0"/>
                  </a:moveTo>
                  <a:lnTo>
                    <a:pt x="1441363" y="0"/>
                  </a:lnTo>
                  <a:lnTo>
                    <a:pt x="1441363" y="454678"/>
                  </a:lnTo>
                  <a:lnTo>
                    <a:pt x="0" y="454678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1363" cy="492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74039" y="6836557"/>
            <a:ext cx="7273868" cy="3308207"/>
          </a:xfrm>
          <a:custGeom>
            <a:avLst/>
            <a:gdLst/>
            <a:ahLst/>
            <a:cxnLst/>
            <a:rect r="r" b="b" t="t" l="l"/>
            <a:pathLst>
              <a:path h="3308207" w="7273868">
                <a:moveTo>
                  <a:pt x="0" y="0"/>
                </a:moveTo>
                <a:lnTo>
                  <a:pt x="7273868" y="0"/>
                </a:lnTo>
                <a:lnTo>
                  <a:pt x="7273868" y="3308208"/>
                </a:lnTo>
                <a:lnTo>
                  <a:pt x="0" y="3308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09" t="0" r="-274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35147" y="1358081"/>
            <a:ext cx="1561261" cy="216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2"/>
              </a:lnSpc>
              <a:spcBef>
                <a:spcPct val="0"/>
              </a:spcBef>
            </a:pPr>
            <a:r>
              <a:rPr lang="en-US" sz="11423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79149" y="4607122"/>
            <a:ext cx="4674297" cy="152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5"/>
              </a:lnSpc>
              <a:spcBef>
                <a:spcPct val="0"/>
              </a:spcBef>
            </a:pPr>
            <a:r>
              <a:rPr lang="en-US" b="true" sz="413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Merge the two sorted subarrays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880" y="44450"/>
            <a:ext cx="1617024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(a): Algorithm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C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286" y="1360797"/>
            <a:ext cx="1640893" cy="1665881"/>
          </a:xfrm>
          <a:custGeom>
            <a:avLst/>
            <a:gdLst/>
            <a:ahLst/>
            <a:cxnLst/>
            <a:rect r="r" b="b" t="t" l="l"/>
            <a:pathLst>
              <a:path h="1665881" w="1640893">
                <a:moveTo>
                  <a:pt x="0" y="0"/>
                </a:moveTo>
                <a:lnTo>
                  <a:pt x="1640892" y="0"/>
                </a:lnTo>
                <a:lnTo>
                  <a:pt x="1640892" y="1665880"/>
                </a:lnTo>
                <a:lnTo>
                  <a:pt x="0" y="1665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52100" y="1721046"/>
            <a:ext cx="4087615" cy="945383"/>
            <a:chOff x="0" y="0"/>
            <a:chExt cx="1076573" cy="248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6573" cy="248990"/>
            </a:xfrm>
            <a:custGeom>
              <a:avLst/>
              <a:gdLst/>
              <a:ahLst/>
              <a:cxnLst/>
              <a:rect r="r" b="b" t="t" l="l"/>
              <a:pathLst>
                <a:path h="248990" w="1076573">
                  <a:moveTo>
                    <a:pt x="0" y="0"/>
                  </a:moveTo>
                  <a:lnTo>
                    <a:pt x="1076573" y="0"/>
                  </a:lnTo>
                  <a:lnTo>
                    <a:pt x="1076573" y="248990"/>
                  </a:lnTo>
                  <a:lnTo>
                    <a:pt x="0" y="248990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76573" cy="287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02006" y="4250320"/>
            <a:ext cx="9504188" cy="5852059"/>
          </a:xfrm>
          <a:custGeom>
            <a:avLst/>
            <a:gdLst/>
            <a:ahLst/>
            <a:cxnLst/>
            <a:rect r="r" b="b" t="t" l="l"/>
            <a:pathLst>
              <a:path h="5852059" w="9504188">
                <a:moveTo>
                  <a:pt x="0" y="0"/>
                </a:moveTo>
                <a:lnTo>
                  <a:pt x="9504187" y="0"/>
                </a:lnTo>
                <a:lnTo>
                  <a:pt x="9504187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8343" y="4250320"/>
            <a:ext cx="7570095" cy="5852059"/>
          </a:xfrm>
          <a:custGeom>
            <a:avLst/>
            <a:gdLst/>
            <a:ahLst/>
            <a:cxnLst/>
            <a:rect r="r" b="b" t="t" l="l"/>
            <a:pathLst>
              <a:path h="5852059" w="7570095">
                <a:moveTo>
                  <a:pt x="0" y="0"/>
                </a:moveTo>
                <a:lnTo>
                  <a:pt x="7570095" y="0"/>
                </a:lnTo>
                <a:lnTo>
                  <a:pt x="7570095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5933" y="1109237"/>
            <a:ext cx="1097598" cy="152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3"/>
              </a:lnSpc>
              <a:spcBef>
                <a:spcPct val="0"/>
              </a:spcBef>
            </a:pPr>
            <a:r>
              <a:rPr lang="en-US" sz="8030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5178" y="1837532"/>
            <a:ext cx="4674297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Hybrid Sort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880" y="150495"/>
            <a:ext cx="1617024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(a): Algorithm implementation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15559" y="1348384"/>
            <a:ext cx="1640893" cy="1665881"/>
          </a:xfrm>
          <a:custGeom>
            <a:avLst/>
            <a:gdLst/>
            <a:ahLst/>
            <a:cxnLst/>
            <a:rect r="r" b="b" t="t" l="l"/>
            <a:pathLst>
              <a:path h="1665881" w="1640893">
                <a:moveTo>
                  <a:pt x="0" y="0"/>
                </a:moveTo>
                <a:lnTo>
                  <a:pt x="1640893" y="0"/>
                </a:lnTo>
                <a:lnTo>
                  <a:pt x="1640893" y="1665880"/>
                </a:lnTo>
                <a:lnTo>
                  <a:pt x="0" y="1665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193118" y="1721046"/>
            <a:ext cx="4087615" cy="945383"/>
            <a:chOff x="0" y="0"/>
            <a:chExt cx="1076573" cy="248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573" cy="248990"/>
            </a:xfrm>
            <a:custGeom>
              <a:avLst/>
              <a:gdLst/>
              <a:ahLst/>
              <a:cxnLst/>
              <a:rect r="r" b="b" t="t" l="l"/>
              <a:pathLst>
                <a:path h="248990" w="1076573">
                  <a:moveTo>
                    <a:pt x="0" y="0"/>
                  </a:moveTo>
                  <a:lnTo>
                    <a:pt x="1076573" y="0"/>
                  </a:lnTo>
                  <a:lnTo>
                    <a:pt x="1076573" y="248990"/>
                  </a:lnTo>
                  <a:lnTo>
                    <a:pt x="0" y="248990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6573" cy="287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387206" y="1096824"/>
            <a:ext cx="1097598" cy="152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3"/>
              </a:lnSpc>
              <a:spcBef>
                <a:spcPct val="0"/>
              </a:spcBef>
            </a:pPr>
            <a:r>
              <a:rPr lang="en-US" sz="8030">
                <a:solidFill>
                  <a:srgbClr val="000000"/>
                </a:solidFill>
                <a:latin typeface="Pixellet TH"/>
                <a:ea typeface="Pixellet TH"/>
                <a:cs typeface="Pixellet TH"/>
                <a:sym typeface="Pixellet TH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76197" y="1837532"/>
            <a:ext cx="4674297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082556"/>
            <a:ext cx="16442678" cy="9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This </a:t>
            </a:r>
            <a:r>
              <a:rPr lang="en-US" b="true" sz="22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hybridSort()</a:t>
            </a:r>
            <a:r>
              <a:rPr lang="en-US" sz="2299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adds an extra argument from the original </a:t>
            </a:r>
            <a:r>
              <a:rPr lang="en-US" b="true" sz="22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mergeSort()</a:t>
            </a:r>
            <a:r>
              <a:rPr lang="en-US" sz="2299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, allow us to set an 'S' value.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When S = 0, the algorithm behaves exactly like the </a:t>
            </a:r>
            <a:r>
              <a:rPr lang="en-US" b="true" sz="22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mergeSort()</a:t>
            </a:r>
            <a:r>
              <a:rPr lang="en-US" sz="2299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taught in lectures.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02350" cy="2856866"/>
            <a:chOff x="0" y="0"/>
            <a:chExt cx="4952059" cy="752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2059" cy="752426"/>
            </a:xfrm>
            <a:custGeom>
              <a:avLst/>
              <a:gdLst/>
              <a:ahLst/>
              <a:cxnLst/>
              <a:rect r="r" b="b" t="t" l="l"/>
              <a:pathLst>
                <a:path h="752426" w="4952059">
                  <a:moveTo>
                    <a:pt x="0" y="0"/>
                  </a:moveTo>
                  <a:lnTo>
                    <a:pt x="4952059" y="0"/>
                  </a:lnTo>
                  <a:lnTo>
                    <a:pt x="4952059" y="752426"/>
                  </a:lnTo>
                  <a:lnTo>
                    <a:pt x="0" y="752426"/>
                  </a:lnTo>
                  <a:close/>
                </a:path>
              </a:pathLst>
            </a:custGeom>
            <a:solidFill>
              <a:srgbClr val="FEFB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52059" cy="790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004" y="2111592"/>
            <a:ext cx="8528331" cy="7788404"/>
            <a:chOff x="0" y="0"/>
            <a:chExt cx="11371108" cy="1038453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88836"/>
              <a:ext cx="11247173" cy="10095703"/>
              <a:chOff x="0" y="0"/>
              <a:chExt cx="2058316" cy="18475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58316" cy="1847588"/>
              </a:xfrm>
              <a:custGeom>
                <a:avLst/>
                <a:gdLst/>
                <a:ahLst/>
                <a:cxnLst/>
                <a:rect r="r" b="b" t="t" l="l"/>
                <a:pathLst>
                  <a:path h="1847588" w="2058316">
                    <a:moveTo>
                      <a:pt x="0" y="0"/>
                    </a:moveTo>
                    <a:lnTo>
                      <a:pt x="2058316" y="0"/>
                    </a:lnTo>
                    <a:lnTo>
                      <a:pt x="2058316" y="1847588"/>
                    </a:lnTo>
                    <a:lnTo>
                      <a:pt x="0" y="1847588"/>
                    </a:lnTo>
                    <a:close/>
                  </a:path>
                </a:pathLst>
              </a:custGeom>
              <a:solidFill>
                <a:srgbClr val="5BC4B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058316" cy="1885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6365" y="0"/>
              <a:ext cx="11194743" cy="10093602"/>
              <a:chOff x="0" y="0"/>
              <a:chExt cx="2048721" cy="184720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48721" cy="1847204"/>
              </a:xfrm>
              <a:custGeom>
                <a:avLst/>
                <a:gdLst/>
                <a:ahLst/>
                <a:cxnLst/>
                <a:rect r="r" b="b" t="t" l="l"/>
                <a:pathLst>
                  <a:path h="1847204" w="2048721">
                    <a:moveTo>
                      <a:pt x="0" y="0"/>
                    </a:moveTo>
                    <a:lnTo>
                      <a:pt x="2048721" y="0"/>
                    </a:lnTo>
                    <a:lnTo>
                      <a:pt x="2048721" y="1847204"/>
                    </a:lnTo>
                    <a:lnTo>
                      <a:pt x="0" y="18472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048721" cy="1885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503166" y="3968997"/>
            <a:ext cx="7852812" cy="5307919"/>
          </a:xfrm>
          <a:custGeom>
            <a:avLst/>
            <a:gdLst/>
            <a:ahLst/>
            <a:cxnLst/>
            <a:rect r="r" b="b" t="t" l="l"/>
            <a:pathLst>
              <a:path h="5307919" w="7852812">
                <a:moveTo>
                  <a:pt x="0" y="0"/>
                </a:moveTo>
                <a:lnTo>
                  <a:pt x="7852811" y="0"/>
                </a:lnTo>
                <a:lnTo>
                  <a:pt x="7852811" y="5307918"/>
                </a:lnTo>
                <a:lnTo>
                  <a:pt x="0" y="5307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09661" y="2111592"/>
            <a:ext cx="9377335" cy="7788404"/>
            <a:chOff x="0" y="0"/>
            <a:chExt cx="12503113" cy="1038453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88836"/>
              <a:ext cx="12366840" cy="10095703"/>
              <a:chOff x="0" y="0"/>
              <a:chExt cx="2263223" cy="18475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263223" cy="1847588"/>
              </a:xfrm>
              <a:custGeom>
                <a:avLst/>
                <a:gdLst/>
                <a:ahLst/>
                <a:cxnLst/>
                <a:rect r="r" b="b" t="t" l="l"/>
                <a:pathLst>
                  <a:path h="1847588" w="2263223">
                    <a:moveTo>
                      <a:pt x="0" y="0"/>
                    </a:moveTo>
                    <a:lnTo>
                      <a:pt x="2263223" y="0"/>
                    </a:lnTo>
                    <a:lnTo>
                      <a:pt x="2263223" y="1847588"/>
                    </a:lnTo>
                    <a:lnTo>
                      <a:pt x="0" y="1847588"/>
                    </a:lnTo>
                    <a:close/>
                  </a:path>
                </a:pathLst>
              </a:custGeom>
              <a:solidFill>
                <a:srgbClr val="5BC4B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263223" cy="1885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93922" y="0"/>
              <a:ext cx="12309192" cy="10093602"/>
              <a:chOff x="0" y="0"/>
              <a:chExt cx="2252673" cy="184720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52673" cy="1847204"/>
              </a:xfrm>
              <a:custGeom>
                <a:avLst/>
                <a:gdLst/>
                <a:ahLst/>
                <a:cxnLst/>
                <a:rect r="r" b="b" t="t" l="l"/>
                <a:pathLst>
                  <a:path h="1847204" w="2252673">
                    <a:moveTo>
                      <a:pt x="0" y="0"/>
                    </a:moveTo>
                    <a:lnTo>
                      <a:pt x="2252673" y="0"/>
                    </a:lnTo>
                    <a:lnTo>
                      <a:pt x="2252673" y="1847204"/>
                    </a:lnTo>
                    <a:lnTo>
                      <a:pt x="0" y="18472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52673" cy="1885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false" flipV="false" rot="0">
            <a:off x="9127908" y="4403735"/>
            <a:ext cx="8740840" cy="4438442"/>
          </a:xfrm>
          <a:custGeom>
            <a:avLst/>
            <a:gdLst/>
            <a:ahLst/>
            <a:cxnLst/>
            <a:rect r="r" b="b" t="t" l="l"/>
            <a:pathLst>
              <a:path h="4438442" w="8740840">
                <a:moveTo>
                  <a:pt x="0" y="0"/>
                </a:moveTo>
                <a:lnTo>
                  <a:pt x="8740840" y="0"/>
                </a:lnTo>
                <a:lnTo>
                  <a:pt x="8740840" y="4438442"/>
                </a:lnTo>
                <a:lnTo>
                  <a:pt x="0" y="4438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50" t="-84" r="0" b="-8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4361" y="418148"/>
            <a:ext cx="162306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(b) Generate input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2161" y="2711032"/>
            <a:ext cx="69260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1. Define dataset sizes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30129" y="2711032"/>
            <a:ext cx="713639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2. Generate the datasets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6627" y="2121278"/>
          <a:ext cx="10356055" cy="5462948"/>
        </p:xfrm>
        <a:graphic>
          <a:graphicData uri="http://schemas.openxmlformats.org/drawingml/2006/table">
            <a:tbl>
              <a:tblPr/>
              <a:tblGrid>
                <a:gridCol w="2916743"/>
                <a:gridCol w="2773927"/>
                <a:gridCol w="2353342"/>
                <a:gridCol w="2312042"/>
              </a:tblGrid>
              <a:tr h="1362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Algorithm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Best 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Worst 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Average 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7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MergeSort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8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Insertion Sort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</a:t>
                      </a: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</a:t>
                      </a: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</a:t>
                      </a: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</a:t>
                      </a: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3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Hybrid Sort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log(n/S)+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log(n/S)+ 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O(n log(n/S)+ 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860587" y="1259252"/>
            <a:ext cx="7242326" cy="4236761"/>
          </a:xfrm>
          <a:custGeom>
            <a:avLst/>
            <a:gdLst/>
            <a:ahLst/>
            <a:cxnLst/>
            <a:rect r="r" b="b" t="t" l="l"/>
            <a:pathLst>
              <a:path h="4236761" w="7242326">
                <a:moveTo>
                  <a:pt x="0" y="0"/>
                </a:moveTo>
                <a:lnTo>
                  <a:pt x="7242326" y="0"/>
                </a:lnTo>
                <a:lnTo>
                  <a:pt x="7242326" y="4236760"/>
                </a:lnTo>
                <a:lnTo>
                  <a:pt x="0" y="423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6627" y="116205"/>
            <a:ext cx="15588636" cy="17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(c): Analysis of time complexity</a:t>
            </a:r>
          </a:p>
          <a:p>
            <a:pPr algn="l">
              <a:lnSpc>
                <a:spcPts val="6300"/>
              </a:lnSpc>
            </a:pPr>
            <a:r>
              <a:rPr lang="en-US" b="true" sz="4500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THEORETICAL TIME COMPLEXITY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464" y="7972242"/>
            <a:ext cx="10517217" cy="177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700" indent="-253850" lvl="1">
              <a:lnSpc>
                <a:spcPts val="4232"/>
              </a:lnSpc>
              <a:buFont typeface="Arial"/>
              <a:buChar char="•"/>
            </a:pPr>
            <a:r>
              <a:rPr lang="en-US" b="true" sz="23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n: the n</a:t>
            </a:r>
            <a:r>
              <a:rPr lang="en-US" b="true" sz="23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umber of elements in the array you’re sorting (input size).</a:t>
            </a:r>
          </a:p>
          <a:p>
            <a:pPr algn="just" marL="507700" indent="-253850" lvl="1">
              <a:lnSpc>
                <a:spcPts val="32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S: the cutoff threshold at which the algorithm stops recursing and switches from mergesort to insertion sort for any subarray of size ≤S.</a:t>
            </a:r>
          </a:p>
          <a:p>
            <a:pPr algn="just">
              <a:lnSpc>
                <a:spcPts val="3292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60587" y="5646130"/>
            <a:ext cx="7242326" cy="4318237"/>
          </a:xfrm>
          <a:custGeom>
            <a:avLst/>
            <a:gdLst/>
            <a:ahLst/>
            <a:cxnLst/>
            <a:rect r="r" b="b" t="t" l="l"/>
            <a:pathLst>
              <a:path h="4318237" w="7242326">
                <a:moveTo>
                  <a:pt x="0" y="0"/>
                </a:moveTo>
                <a:lnTo>
                  <a:pt x="7242326" y="0"/>
                </a:lnTo>
                <a:lnTo>
                  <a:pt x="7242326" y="4318237"/>
                </a:lnTo>
                <a:lnTo>
                  <a:pt x="0" y="4318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561" y="1805640"/>
            <a:ext cx="15710878" cy="6675720"/>
          </a:xfrm>
          <a:custGeom>
            <a:avLst/>
            <a:gdLst/>
            <a:ahLst/>
            <a:cxnLst/>
            <a:rect r="r" b="b" t="t" l="l"/>
            <a:pathLst>
              <a:path h="6675720" w="15710878">
                <a:moveTo>
                  <a:pt x="0" y="0"/>
                </a:moveTo>
                <a:lnTo>
                  <a:pt x="15710878" y="0"/>
                </a:lnTo>
                <a:lnTo>
                  <a:pt x="15710878" y="6675720"/>
                </a:lnTo>
                <a:lnTo>
                  <a:pt x="0" y="6675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9682" y="-16"/>
            <a:ext cx="15588636" cy="256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(c): Analysis of time complexity</a:t>
            </a:r>
          </a:p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Theoretical time complexity</a:t>
            </a:r>
          </a:p>
          <a:p>
            <a:pPr algn="ctr">
              <a:lnSpc>
                <a:spcPts val="671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89821" y="8629376"/>
            <a:ext cx="15909618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n: the n</a:t>
            </a: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umber of elements in the array you’re sorting (input size)</a:t>
            </a:r>
          </a:p>
          <a:p>
            <a:pPr algn="just" marL="561339" indent="-280669" lvl="1">
              <a:lnSpc>
                <a:spcPts val="415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S: the cutoff threshold at which the algorithm stops recursing &amp; switches from mergesort to insertion sort for any subarray of size ≤ 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01" y="3321202"/>
            <a:ext cx="9186279" cy="5752907"/>
          </a:xfrm>
          <a:custGeom>
            <a:avLst/>
            <a:gdLst/>
            <a:ahLst/>
            <a:cxnLst/>
            <a:rect r="r" b="b" t="t" l="l"/>
            <a:pathLst>
              <a:path h="5752907" w="9186279">
                <a:moveTo>
                  <a:pt x="0" y="0"/>
                </a:moveTo>
                <a:lnTo>
                  <a:pt x="9186278" y="0"/>
                </a:lnTo>
                <a:lnTo>
                  <a:pt x="9186278" y="5752907"/>
                </a:lnTo>
                <a:lnTo>
                  <a:pt x="0" y="5752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17579" y="4107562"/>
            <a:ext cx="8238499" cy="5602179"/>
          </a:xfrm>
          <a:custGeom>
            <a:avLst/>
            <a:gdLst/>
            <a:ahLst/>
            <a:cxnLst/>
            <a:rect r="r" b="b" t="t" l="l"/>
            <a:pathLst>
              <a:path h="5602179" w="8238499">
                <a:moveTo>
                  <a:pt x="0" y="0"/>
                </a:moveTo>
                <a:lnTo>
                  <a:pt x="8238499" y="0"/>
                </a:lnTo>
                <a:lnTo>
                  <a:pt x="8238499" y="5602179"/>
                </a:lnTo>
                <a:lnTo>
                  <a:pt x="0" y="5602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17579" y="2685570"/>
            <a:ext cx="5564934" cy="1495576"/>
          </a:xfrm>
          <a:custGeom>
            <a:avLst/>
            <a:gdLst/>
            <a:ahLst/>
            <a:cxnLst/>
            <a:rect r="r" b="b" t="t" l="l"/>
            <a:pathLst>
              <a:path h="1495576" w="5564934">
                <a:moveTo>
                  <a:pt x="0" y="0"/>
                </a:moveTo>
                <a:lnTo>
                  <a:pt x="5564934" y="0"/>
                </a:lnTo>
                <a:lnTo>
                  <a:pt x="5564934" y="1495576"/>
                </a:lnTo>
                <a:lnTo>
                  <a:pt x="0" y="1495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75671" y="3156995"/>
            <a:ext cx="2880407" cy="1822298"/>
          </a:xfrm>
          <a:custGeom>
            <a:avLst/>
            <a:gdLst/>
            <a:ahLst/>
            <a:cxnLst/>
            <a:rect r="r" b="b" t="t" l="l"/>
            <a:pathLst>
              <a:path h="1822298" w="2880407">
                <a:moveTo>
                  <a:pt x="0" y="0"/>
                </a:moveTo>
                <a:lnTo>
                  <a:pt x="2880407" y="0"/>
                </a:lnTo>
                <a:lnTo>
                  <a:pt x="2880407" y="1822298"/>
                </a:lnTo>
                <a:lnTo>
                  <a:pt x="0" y="1822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8559" y="476081"/>
            <a:ext cx="15117316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Part (c): Analysis of time complexity</a:t>
            </a:r>
          </a:p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FIX S VARY N (THEORETICAL)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362" y="2564823"/>
            <a:ext cx="10337416" cy="6693477"/>
          </a:xfrm>
          <a:custGeom>
            <a:avLst/>
            <a:gdLst/>
            <a:ahLst/>
            <a:cxnLst/>
            <a:rect r="r" b="b" t="t" l="l"/>
            <a:pathLst>
              <a:path h="6693477" w="10337416">
                <a:moveTo>
                  <a:pt x="0" y="0"/>
                </a:moveTo>
                <a:lnTo>
                  <a:pt x="10337416" y="0"/>
                </a:lnTo>
                <a:lnTo>
                  <a:pt x="10337416" y="6693477"/>
                </a:lnTo>
                <a:lnTo>
                  <a:pt x="0" y="6693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27326" y="4548550"/>
            <a:ext cx="9156959" cy="2726023"/>
          </a:xfrm>
          <a:custGeom>
            <a:avLst/>
            <a:gdLst/>
            <a:ahLst/>
            <a:cxnLst/>
            <a:rect r="r" b="b" t="t" l="l"/>
            <a:pathLst>
              <a:path h="2726023" w="9156959">
                <a:moveTo>
                  <a:pt x="0" y="0"/>
                </a:moveTo>
                <a:lnTo>
                  <a:pt x="9156959" y="0"/>
                </a:lnTo>
                <a:lnTo>
                  <a:pt x="9156959" y="2726023"/>
                </a:lnTo>
                <a:lnTo>
                  <a:pt x="0" y="2726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8668" y="116205"/>
            <a:ext cx="15117316" cy="17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Part c(i): Analysis of time complexity</a:t>
            </a:r>
          </a:p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Fix S vary n (Code)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7968" y="7545758"/>
            <a:ext cx="8152064" cy="2606583"/>
          </a:xfrm>
          <a:custGeom>
            <a:avLst/>
            <a:gdLst/>
            <a:ahLst/>
            <a:cxnLst/>
            <a:rect r="r" b="b" t="t" l="l"/>
            <a:pathLst>
              <a:path h="2606583" w="8152064">
                <a:moveTo>
                  <a:pt x="0" y="0"/>
                </a:moveTo>
                <a:lnTo>
                  <a:pt x="8152064" y="0"/>
                </a:lnTo>
                <a:lnTo>
                  <a:pt x="8152064" y="2606583"/>
                </a:lnTo>
                <a:lnTo>
                  <a:pt x="0" y="260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730" y="1717809"/>
            <a:ext cx="8892806" cy="5780324"/>
          </a:xfrm>
          <a:custGeom>
            <a:avLst/>
            <a:gdLst/>
            <a:ahLst/>
            <a:cxnLst/>
            <a:rect r="r" b="b" t="t" l="l"/>
            <a:pathLst>
              <a:path h="5780324" w="8892806">
                <a:moveTo>
                  <a:pt x="0" y="0"/>
                </a:moveTo>
                <a:lnTo>
                  <a:pt x="8892806" y="0"/>
                </a:lnTo>
                <a:lnTo>
                  <a:pt x="8892806" y="5780324"/>
                </a:lnTo>
                <a:lnTo>
                  <a:pt x="0" y="5780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670184"/>
            <a:ext cx="8892806" cy="5780324"/>
          </a:xfrm>
          <a:custGeom>
            <a:avLst/>
            <a:gdLst/>
            <a:ahLst/>
            <a:cxnLst/>
            <a:rect r="r" b="b" t="t" l="l"/>
            <a:pathLst>
              <a:path h="5780324" w="8892806">
                <a:moveTo>
                  <a:pt x="0" y="0"/>
                </a:moveTo>
                <a:lnTo>
                  <a:pt x="8892806" y="0"/>
                </a:lnTo>
                <a:lnTo>
                  <a:pt x="8892806" y="5780324"/>
                </a:lnTo>
                <a:lnTo>
                  <a:pt x="0" y="5780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5342" y="-50030"/>
            <a:ext cx="15117316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Part c(i): Analysis of time complexity</a:t>
            </a:r>
          </a:p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Fix S vary 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1129" y="2710083"/>
            <a:ext cx="17645743" cy="6868886"/>
            <a:chOff x="0" y="0"/>
            <a:chExt cx="4647438" cy="18090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7438" cy="1809089"/>
            </a:xfrm>
            <a:custGeom>
              <a:avLst/>
              <a:gdLst/>
              <a:ahLst/>
              <a:cxnLst/>
              <a:rect r="r" b="b" t="t" l="l"/>
              <a:pathLst>
                <a:path h="1809089" w="4647438">
                  <a:moveTo>
                    <a:pt x="22376" y="0"/>
                  </a:moveTo>
                  <a:lnTo>
                    <a:pt x="4625063" y="0"/>
                  </a:lnTo>
                  <a:cubicBezTo>
                    <a:pt x="4637420" y="0"/>
                    <a:pt x="4647438" y="10018"/>
                    <a:pt x="4647438" y="22376"/>
                  </a:cubicBezTo>
                  <a:lnTo>
                    <a:pt x="4647438" y="1786713"/>
                  </a:lnTo>
                  <a:cubicBezTo>
                    <a:pt x="4647438" y="1799071"/>
                    <a:pt x="4637420" y="1809089"/>
                    <a:pt x="4625063" y="1809089"/>
                  </a:cubicBezTo>
                  <a:lnTo>
                    <a:pt x="22376" y="1809089"/>
                  </a:lnTo>
                  <a:cubicBezTo>
                    <a:pt x="10018" y="1809089"/>
                    <a:pt x="0" y="1799071"/>
                    <a:pt x="0" y="1786713"/>
                  </a:cubicBezTo>
                  <a:lnTo>
                    <a:pt x="0" y="22376"/>
                  </a:lnTo>
                  <a:cubicBezTo>
                    <a:pt x="0" y="10018"/>
                    <a:pt x="10018" y="0"/>
                    <a:pt x="22376" y="0"/>
                  </a:cubicBezTo>
                  <a:close/>
                </a:path>
              </a:pathLst>
            </a:custGeom>
            <a:solidFill>
              <a:srgbClr val="5BC4B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47438" cy="1847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60995"/>
            <a:ext cx="15117316" cy="87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Part (c)ii: Analysis of time complexity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14709"/>
            <a:ext cx="1511731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true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Rationale for choice of thresholds (S values)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909" y="2949686"/>
            <a:ext cx="17358181" cy="676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6683" indent="-258342" lvl="1">
              <a:lnSpc>
                <a:spcPts val="3350"/>
              </a:lnSpc>
              <a:buFont typeface="Arial"/>
              <a:buChar char="•"/>
            </a:pPr>
            <a:r>
              <a:rPr lang="en-US" b="true" sz="2393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For very small S (2, 4):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Almost always using MergeSort.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High recursion overhead.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Runtime larger.</a:t>
            </a:r>
          </a:p>
          <a:p>
            <a:pPr algn="l">
              <a:lnSpc>
                <a:spcPts val="3350"/>
              </a:lnSpc>
            </a:pPr>
          </a:p>
          <a:p>
            <a:pPr algn="l" marL="516683" indent="-258342" lvl="1">
              <a:lnSpc>
                <a:spcPts val="3350"/>
              </a:lnSpc>
              <a:buFont typeface="Arial"/>
              <a:buChar char="•"/>
            </a:pPr>
            <a:r>
              <a:rPr lang="en-US" b="true" sz="2393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For m</a:t>
            </a:r>
            <a:r>
              <a:rPr lang="en-US" b="true" sz="2393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edium S (8, 16, 32):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Balanced use of MergeSort + InsertionSort.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Runtime minimized around here (usually between 8 and 32).</a:t>
            </a:r>
          </a:p>
          <a:p>
            <a:pPr algn="l">
              <a:lnSpc>
                <a:spcPts val="3350"/>
              </a:lnSpc>
            </a:pPr>
          </a:p>
          <a:p>
            <a:pPr algn="l" marL="516683" indent="-258342" lvl="1">
              <a:lnSpc>
                <a:spcPts val="3350"/>
              </a:lnSpc>
              <a:buFont typeface="Arial"/>
              <a:buChar char="•"/>
            </a:pPr>
            <a:r>
              <a:rPr lang="en-US" b="true" sz="2393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For l</a:t>
            </a:r>
            <a:r>
              <a:rPr lang="en-US" b="true" sz="2393">
                <a:solidFill>
                  <a:srgbClr val="1D1D1F"/>
                </a:solidFill>
                <a:latin typeface="Bitter Bold"/>
                <a:ea typeface="Bitter Bold"/>
                <a:cs typeface="Bitter Bold"/>
                <a:sym typeface="Bitter Bold"/>
              </a:rPr>
              <a:t>arge S (64, 128):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Large subarrays handled by InsertionSort.</a:t>
            </a:r>
          </a:p>
          <a:p>
            <a:pPr algn="l" marL="1033366" indent="-344455" lvl="2">
              <a:lnSpc>
                <a:spcPts val="3350"/>
              </a:lnSpc>
              <a:buFont typeface="Arial"/>
              <a:buChar char="⚬"/>
            </a:pPr>
            <a:r>
              <a:rPr lang="en-US" sz="2393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Runtime increases rapidly because InsertionSort is O(n^2).</a:t>
            </a:r>
          </a:p>
          <a:p>
            <a:pPr algn="l">
              <a:lnSpc>
                <a:spcPts val="3350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1D1D1F"/>
                </a:solidFill>
                <a:latin typeface="Bitter"/>
                <a:ea typeface="Bitter"/>
                <a:cs typeface="Bitter"/>
                <a:sym typeface="Bitter"/>
              </a:rPr>
              <a:t>So the rationale is: By choosing exponentially increasing S values, we cover the whole range of possible trade-offs          between recursion overhead and insertion overhead.</a:t>
            </a:r>
          </a:p>
          <a:p>
            <a:pPr algn="just">
              <a:lnSpc>
                <a:spcPts val="335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3939" y="743911"/>
            <a:ext cx="13628035" cy="2860492"/>
          </a:xfrm>
          <a:custGeom>
            <a:avLst/>
            <a:gdLst/>
            <a:ahLst/>
            <a:cxnLst/>
            <a:rect r="r" b="b" t="t" l="l"/>
            <a:pathLst>
              <a:path h="2860492" w="13628035">
                <a:moveTo>
                  <a:pt x="0" y="0"/>
                </a:moveTo>
                <a:lnTo>
                  <a:pt x="13628034" y="0"/>
                </a:lnTo>
                <a:lnTo>
                  <a:pt x="13628034" y="2860492"/>
                </a:lnTo>
                <a:lnTo>
                  <a:pt x="0" y="286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935886"/>
            <a:ext cx="9443436" cy="5878539"/>
          </a:xfrm>
          <a:custGeom>
            <a:avLst/>
            <a:gdLst/>
            <a:ahLst/>
            <a:cxnLst/>
            <a:rect r="r" b="b" t="t" l="l"/>
            <a:pathLst>
              <a:path h="5878539" w="9443436">
                <a:moveTo>
                  <a:pt x="0" y="0"/>
                </a:moveTo>
                <a:lnTo>
                  <a:pt x="9443436" y="0"/>
                </a:lnTo>
                <a:lnTo>
                  <a:pt x="9443436" y="5878539"/>
                </a:lnTo>
                <a:lnTo>
                  <a:pt x="0" y="5878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3436" y="3935886"/>
            <a:ext cx="8844564" cy="5878539"/>
          </a:xfrm>
          <a:custGeom>
            <a:avLst/>
            <a:gdLst/>
            <a:ahLst/>
            <a:cxnLst/>
            <a:rect r="r" b="b" t="t" l="l"/>
            <a:pathLst>
              <a:path h="5878539" w="8844564">
                <a:moveTo>
                  <a:pt x="0" y="0"/>
                </a:moveTo>
                <a:lnTo>
                  <a:pt x="8844564" y="0"/>
                </a:lnTo>
                <a:lnTo>
                  <a:pt x="8844564" y="5878539"/>
                </a:lnTo>
                <a:lnTo>
                  <a:pt x="0" y="587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9" r="-2865" b="-2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95250" y="1169815"/>
            <a:ext cx="4179189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(c)ii</a:t>
            </a:r>
          </a:p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BC1823"/>
                </a:solidFill>
                <a:latin typeface="Bitter Bold"/>
                <a:ea typeface="Bitter Bold"/>
                <a:cs typeface="Bitter Bold"/>
                <a:sym typeface="Bitter Bold"/>
              </a:rPr>
              <a:t>Fix N vary 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8477" y="1240771"/>
            <a:ext cx="17400167" cy="8694118"/>
            <a:chOff x="0" y="0"/>
            <a:chExt cx="4582760" cy="2289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2760" cy="2289809"/>
            </a:xfrm>
            <a:custGeom>
              <a:avLst/>
              <a:gdLst/>
              <a:ahLst/>
              <a:cxnLst/>
              <a:rect r="r" b="b" t="t" l="l"/>
              <a:pathLst>
                <a:path h="2289809" w="4582760">
                  <a:moveTo>
                    <a:pt x="22692" y="0"/>
                  </a:moveTo>
                  <a:lnTo>
                    <a:pt x="4560069" y="0"/>
                  </a:lnTo>
                  <a:cubicBezTo>
                    <a:pt x="4566087" y="0"/>
                    <a:pt x="4571859" y="2391"/>
                    <a:pt x="4576114" y="6646"/>
                  </a:cubicBezTo>
                  <a:cubicBezTo>
                    <a:pt x="4580370" y="10902"/>
                    <a:pt x="4582760" y="16673"/>
                    <a:pt x="4582760" y="22692"/>
                  </a:cubicBezTo>
                  <a:lnTo>
                    <a:pt x="4582760" y="2267117"/>
                  </a:lnTo>
                  <a:cubicBezTo>
                    <a:pt x="4582760" y="2273135"/>
                    <a:pt x="4580370" y="2278907"/>
                    <a:pt x="4576114" y="2283163"/>
                  </a:cubicBezTo>
                  <a:cubicBezTo>
                    <a:pt x="4571859" y="2287418"/>
                    <a:pt x="4566087" y="2289809"/>
                    <a:pt x="4560069" y="2289809"/>
                  </a:cubicBezTo>
                  <a:lnTo>
                    <a:pt x="22692" y="2289809"/>
                  </a:lnTo>
                  <a:cubicBezTo>
                    <a:pt x="16673" y="2289809"/>
                    <a:pt x="10902" y="2287418"/>
                    <a:pt x="6646" y="2283163"/>
                  </a:cubicBezTo>
                  <a:cubicBezTo>
                    <a:pt x="2391" y="2278907"/>
                    <a:pt x="0" y="2273135"/>
                    <a:pt x="0" y="2267117"/>
                  </a:cubicBezTo>
                  <a:lnTo>
                    <a:pt x="0" y="22692"/>
                  </a:lnTo>
                  <a:cubicBezTo>
                    <a:pt x="0" y="16673"/>
                    <a:pt x="2391" y="10902"/>
                    <a:pt x="6646" y="6646"/>
                  </a:cubicBezTo>
                  <a:cubicBezTo>
                    <a:pt x="10902" y="2391"/>
                    <a:pt x="16673" y="0"/>
                    <a:pt x="22692" y="0"/>
                  </a:cubicBezTo>
                  <a:close/>
                </a:path>
              </a:pathLst>
            </a:custGeom>
            <a:solidFill>
              <a:srgbClr val="5BC4B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82760" cy="231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47129" y="1659450"/>
            <a:ext cx="12193741" cy="5029918"/>
          </a:xfrm>
          <a:custGeom>
            <a:avLst/>
            <a:gdLst/>
            <a:ahLst/>
            <a:cxnLst/>
            <a:rect r="r" b="b" t="t" l="l"/>
            <a:pathLst>
              <a:path h="5029918" w="12193741">
                <a:moveTo>
                  <a:pt x="0" y="0"/>
                </a:moveTo>
                <a:lnTo>
                  <a:pt x="12193742" y="0"/>
                </a:lnTo>
                <a:lnTo>
                  <a:pt x="12193742" y="5029919"/>
                </a:lnTo>
                <a:lnTo>
                  <a:pt x="0" y="5029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41451" y="150495"/>
            <a:ext cx="15491029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Part (c)iii : Finding optimal 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788" y="6958202"/>
            <a:ext cx="15008423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Comparisons ↑</a:t>
            </a:r>
            <a:r>
              <a:rPr lang="en-US" b="true" sz="33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 as S increases (insertion sort dominates).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Runtime forms U-shape.</a:t>
            </a:r>
          </a:p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(small S lead to recursion overhead, large S makes insertion sort too slow)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Lowest runtime at S = 4.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692" y="1833992"/>
            <a:ext cx="17226616" cy="7694460"/>
            <a:chOff x="0" y="0"/>
            <a:chExt cx="4537051" cy="2026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051" cy="2026525"/>
            </a:xfrm>
            <a:custGeom>
              <a:avLst/>
              <a:gdLst/>
              <a:ahLst/>
              <a:cxnLst/>
              <a:rect r="r" b="b" t="t" l="l"/>
              <a:pathLst>
                <a:path h="2026525" w="4537051">
                  <a:moveTo>
                    <a:pt x="22920" y="0"/>
                  </a:moveTo>
                  <a:lnTo>
                    <a:pt x="4514131" y="0"/>
                  </a:lnTo>
                  <a:cubicBezTo>
                    <a:pt x="4526789" y="0"/>
                    <a:pt x="4537051" y="10262"/>
                    <a:pt x="4537051" y="22920"/>
                  </a:cubicBezTo>
                  <a:lnTo>
                    <a:pt x="4537051" y="2003604"/>
                  </a:lnTo>
                  <a:cubicBezTo>
                    <a:pt x="4537051" y="2009683"/>
                    <a:pt x="4534636" y="2015513"/>
                    <a:pt x="4530338" y="2019811"/>
                  </a:cubicBezTo>
                  <a:cubicBezTo>
                    <a:pt x="4526039" y="2024110"/>
                    <a:pt x="4520210" y="2026525"/>
                    <a:pt x="4514131" y="2026525"/>
                  </a:cubicBezTo>
                  <a:lnTo>
                    <a:pt x="22920" y="2026525"/>
                  </a:lnTo>
                  <a:cubicBezTo>
                    <a:pt x="10262" y="2026525"/>
                    <a:pt x="0" y="2016263"/>
                    <a:pt x="0" y="2003604"/>
                  </a:cubicBezTo>
                  <a:lnTo>
                    <a:pt x="0" y="22920"/>
                  </a:lnTo>
                  <a:cubicBezTo>
                    <a:pt x="0" y="10262"/>
                    <a:pt x="10262" y="0"/>
                    <a:pt x="22920" y="0"/>
                  </a:cubicBezTo>
                  <a:close/>
                </a:path>
              </a:pathLst>
            </a:custGeom>
            <a:solidFill>
              <a:srgbClr val="5BC4B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37051" cy="205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1555" y="2461331"/>
            <a:ext cx="11161717" cy="4604208"/>
          </a:xfrm>
          <a:custGeom>
            <a:avLst/>
            <a:gdLst/>
            <a:ahLst/>
            <a:cxnLst/>
            <a:rect r="r" b="b" t="t" l="l"/>
            <a:pathLst>
              <a:path h="4604208" w="11161717">
                <a:moveTo>
                  <a:pt x="0" y="0"/>
                </a:moveTo>
                <a:lnTo>
                  <a:pt x="11161717" y="0"/>
                </a:lnTo>
                <a:lnTo>
                  <a:pt x="11161717" y="4604208"/>
                </a:lnTo>
                <a:lnTo>
                  <a:pt x="0" y="4604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5795" y="3932148"/>
            <a:ext cx="5197669" cy="2422703"/>
          </a:xfrm>
          <a:custGeom>
            <a:avLst/>
            <a:gdLst/>
            <a:ahLst/>
            <a:cxnLst/>
            <a:rect r="r" b="b" t="t" l="l"/>
            <a:pathLst>
              <a:path h="2422703" w="5197669">
                <a:moveTo>
                  <a:pt x="0" y="0"/>
                </a:moveTo>
                <a:lnTo>
                  <a:pt x="5197669" y="0"/>
                </a:lnTo>
                <a:lnTo>
                  <a:pt x="5197669" y="2422704"/>
                </a:lnTo>
                <a:lnTo>
                  <a:pt x="0" y="242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90515" y="378613"/>
            <a:ext cx="13506971" cy="87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231F20"/>
                </a:solidFill>
                <a:latin typeface="Bitter Bold"/>
                <a:ea typeface="Bitter Bold"/>
                <a:cs typeface="Bitter Bold"/>
                <a:sym typeface="Bitter Bold"/>
              </a:rPr>
              <a:t>Part (d) : </a:t>
            </a:r>
            <a:r>
              <a:rPr lang="en-US" b="true" sz="4800">
                <a:solidFill>
                  <a:srgbClr val="231F20"/>
                </a:solidFill>
                <a:latin typeface="Bitter Bold"/>
                <a:ea typeface="Bitter Bold"/>
                <a:cs typeface="Bitter Bold"/>
                <a:sym typeface="Bitter Bold"/>
              </a:rPr>
              <a:t>Standard Mergesort vs. Hybrid Sort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4200" y="7362240"/>
            <a:ext cx="10700430" cy="177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31F20"/>
                </a:solidFill>
                <a:latin typeface="Bitter Bold"/>
                <a:ea typeface="Bitter Bold"/>
                <a:cs typeface="Bitter Bold"/>
                <a:sym typeface="Bitter Bold"/>
              </a:rPr>
              <a:t>Using dataset with 10 million integers and S = 4,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31F20"/>
                </a:solidFill>
                <a:latin typeface="Bitter Bold"/>
                <a:ea typeface="Bitter Bold"/>
                <a:cs typeface="Bitter Bold"/>
                <a:sym typeface="Bitter Bold"/>
              </a:rPr>
              <a:t>Hybrid Sort shows similar number of comparisons to standard Mergesort but shorter runtime.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4603" y="8735565"/>
            <a:ext cx="17190909" cy="16572809"/>
          </a:xfrm>
          <a:custGeom>
            <a:avLst/>
            <a:gdLst/>
            <a:ahLst/>
            <a:cxnLst/>
            <a:rect r="r" b="b" t="t" l="l"/>
            <a:pathLst>
              <a:path h="16572809" w="17190909">
                <a:moveTo>
                  <a:pt x="0" y="0"/>
                </a:moveTo>
                <a:lnTo>
                  <a:pt x="17190909" y="0"/>
                </a:lnTo>
                <a:lnTo>
                  <a:pt x="17190909" y="16572808"/>
                </a:lnTo>
                <a:lnTo>
                  <a:pt x="0" y="16572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67906" y="2415460"/>
            <a:ext cx="10177049" cy="7497093"/>
          </a:xfrm>
          <a:custGeom>
            <a:avLst/>
            <a:gdLst/>
            <a:ahLst/>
            <a:cxnLst/>
            <a:rect r="r" b="b" t="t" l="l"/>
            <a:pathLst>
              <a:path h="7497093" w="10177049">
                <a:moveTo>
                  <a:pt x="0" y="0"/>
                </a:moveTo>
                <a:lnTo>
                  <a:pt x="10177049" y="0"/>
                </a:lnTo>
                <a:lnTo>
                  <a:pt x="10177049" y="7497093"/>
                </a:lnTo>
                <a:lnTo>
                  <a:pt x="0" y="7497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3594" y="3878246"/>
            <a:ext cx="9145675" cy="221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0"/>
              </a:lnSpc>
            </a:pPr>
            <a:r>
              <a:rPr lang="en-US" sz="12500" spc="912">
                <a:solidFill>
                  <a:srgbClr val="FDFBF3"/>
                </a:solidFill>
                <a:latin typeface="Marykate"/>
                <a:ea typeface="Marykate"/>
                <a:cs typeface="Marykate"/>
                <a:sym typeface="Marykate"/>
              </a:rPr>
              <a:t>THANK YOU!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138374">
            <a:off x="720880" y="1219138"/>
            <a:ext cx="8038737" cy="5709061"/>
          </a:xfrm>
          <a:custGeom>
            <a:avLst/>
            <a:gdLst/>
            <a:ahLst/>
            <a:cxnLst/>
            <a:rect r="r" b="b" t="t" l="l"/>
            <a:pathLst>
              <a:path h="5709061" w="8038737">
                <a:moveTo>
                  <a:pt x="0" y="0"/>
                </a:moveTo>
                <a:lnTo>
                  <a:pt x="8038737" y="0"/>
                </a:lnTo>
                <a:lnTo>
                  <a:pt x="8038737" y="5709061"/>
                </a:lnTo>
                <a:lnTo>
                  <a:pt x="0" y="5709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3240">
            <a:off x="-2581571" y="-935587"/>
            <a:ext cx="7848525" cy="13512524"/>
          </a:xfrm>
          <a:custGeom>
            <a:avLst/>
            <a:gdLst/>
            <a:ahLst/>
            <a:cxnLst/>
            <a:rect r="r" b="b" t="t" l="l"/>
            <a:pathLst>
              <a:path h="13512524" w="7848525">
                <a:moveTo>
                  <a:pt x="0" y="0"/>
                </a:moveTo>
                <a:lnTo>
                  <a:pt x="7848525" y="0"/>
                </a:lnTo>
                <a:lnTo>
                  <a:pt x="7848525" y="13512525"/>
                </a:lnTo>
                <a:lnTo>
                  <a:pt x="0" y="13512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18191" y="-620128"/>
            <a:ext cx="4121039" cy="4920643"/>
          </a:xfrm>
          <a:custGeom>
            <a:avLst/>
            <a:gdLst/>
            <a:ahLst/>
            <a:cxnLst/>
            <a:rect r="r" b="b" t="t" l="l"/>
            <a:pathLst>
              <a:path h="4920643" w="4121039">
                <a:moveTo>
                  <a:pt x="0" y="0"/>
                </a:moveTo>
                <a:lnTo>
                  <a:pt x="4121039" y="0"/>
                </a:lnTo>
                <a:lnTo>
                  <a:pt x="4121039" y="4920643"/>
                </a:lnTo>
                <a:lnTo>
                  <a:pt x="0" y="4920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38789">
            <a:off x="13021357" y="8761208"/>
            <a:ext cx="1870781" cy="1326154"/>
          </a:xfrm>
          <a:custGeom>
            <a:avLst/>
            <a:gdLst/>
            <a:ahLst/>
            <a:cxnLst/>
            <a:rect r="r" b="b" t="t" l="l"/>
            <a:pathLst>
              <a:path h="1326154" w="1870781">
                <a:moveTo>
                  <a:pt x="0" y="0"/>
                </a:moveTo>
                <a:lnTo>
                  <a:pt x="1870780" y="0"/>
                </a:lnTo>
                <a:lnTo>
                  <a:pt x="1870780" y="1326154"/>
                </a:lnTo>
                <a:lnTo>
                  <a:pt x="0" y="1326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DAGyo1CfGGs</dc:identifier>
  <dcterms:modified xsi:type="dcterms:W3CDTF">2011-08-01T06:04:30Z</dcterms:modified>
  <cp:revision>1</cp:revision>
  <dc:title>SC2001 Project 1</dc:title>
</cp:coreProperties>
</file>